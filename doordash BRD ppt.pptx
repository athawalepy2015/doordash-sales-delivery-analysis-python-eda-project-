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8694-5CB0-85D0-6FCC-D618CBB87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43464-060C-9905-D663-9C73966C1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D38DC-3107-7041-146B-4ABB1775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BF6F2-EDA0-6E53-4B1B-2D5F243C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C434-7097-0597-94A9-7BC1052A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1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CED1-8B05-270A-EEA3-7ED3E1E0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EAAD6-36FB-6686-20E6-3638BD1E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F5479-BDDF-A277-2F06-A11DFC59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C2C6B-0DEB-CB42-156F-1D52DDD7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9C464-B03D-DD29-AABB-25F01242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7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01F0-2587-8E94-42C4-E01E12879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B1911-E9B6-CB23-8C27-BE185229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15EB-F737-3805-BFB0-1ED9C079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7386-2AC2-15D6-A2C3-A273152A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44E7A-F105-B042-879B-443D476F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3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4DA9-0A5A-6011-4B78-FCB9488B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50B0D-124C-03DB-B726-3D3C51977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FC368-2687-4DEB-20D5-E35821A62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5E046-A5ED-5356-F834-38CC651B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F5BF2-D30C-8F1B-2304-C1FEAFBF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7DE5-AB22-43EC-F619-0E97682D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0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0D1A-9A41-F3BA-AC62-F728985F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09FEB-B435-5B47-EC21-2AC98624C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EA5F3-CE94-8645-4FED-16FE367F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626B5-FC31-EBF7-C974-E768FEEFC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92E55-1031-3751-CE26-429943AE2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455F9-61F1-C1DD-76D9-3938FC55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F9E1-D955-0733-2E15-D6CCC867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F8852-4D6D-6AB4-EF1C-CA812C09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6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B760-B1E2-6045-3F9D-CEAB6D9A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7AD8A-4A76-C77A-63A8-C711C5D6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1FE19-10E9-1B0E-8CAE-B7700C14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4698D-64B2-F469-D0A4-0BB7E9A9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9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334E2-4EE2-F734-289B-D84AFF72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39CC5-6061-28FA-1C83-099C4EF8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948B1-BECD-47CA-E4BB-8CDA29D7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2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3C71-F70B-0F58-78C5-EDE4BE633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9264-BB2C-6EFA-6106-D0628477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C2869-D550-55CB-6DCC-520A1F8CB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F0E6E-AC38-B44A-91E9-986A9CF4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D3F29-219E-7270-20D0-2CD9D9C0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8713A-59C7-5399-DFA5-7741C7D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6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A24B-5602-E986-430E-0C2ACF32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D033C-46A3-DD21-6A6D-8C984079E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5A7A1-F23F-8B7F-9A51-842D86E7A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CDB13-C76C-7819-976B-83565A94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07983-F48D-EEAA-D7BA-68ECEE4F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85DF8-6FBA-B58C-D9FB-FAC4973F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4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FB31-0530-F1FF-8A55-DE262BC3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99DC6-A5A3-E982-5669-DD3A7B3EA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70B6-3D1B-3DEF-31A8-0AA9763C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41CE3-2FEF-8E43-0A1D-556BF909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8F7A-0988-741C-1E4D-14897EB8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0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73668-AC28-F2A8-602C-514B92D98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42D39-5FC5-E7D5-C8C9-7250E0B27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5FE3-DAD2-F514-6567-546560ED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AEA3D-EC7D-CA0B-F764-AAF23578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CC247-01B0-FF53-0C0D-BE2604EC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1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2DBF1-0F07-0BC5-DEF6-F1A00452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9193-B833-50F9-DC84-C400339A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6E99B-BCA3-5008-0B69-D6A4C6595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91B3C-C087-40C6-BEB5-C7081AC7721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B1125-54F6-A5CA-64B7-18953F660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2272-FD99-7F7B-9AD5-2730A3CA7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B11EA-282C-4849-ADCF-742D7C7E7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5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552C-BD11-2B88-67F6-4C9937DD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329B-1637-00AC-789A-3E1D32369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1436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26DD8-0AB9-2B62-DDF7-A2FB4D5E8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73201"/>
            <a:ext cx="9144000" cy="353567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highlight>
                  <a:srgbClr val="FFFF00"/>
                </a:highlight>
              </a:rPr>
              <a:t>Problem Statement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BRD: KPI’s</a:t>
            </a:r>
          </a:p>
          <a:p>
            <a:pPr algn="l"/>
            <a:endParaRPr lang="en-US" b="1" dirty="0">
              <a:solidFill>
                <a:schemeClr val="bg1"/>
              </a:solidFill>
              <a:highlight>
                <a:srgbClr val="008000"/>
              </a:highlight>
            </a:endParaRP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800" b="1" dirty="0"/>
              <a:t>Total Orders ($)-  </a:t>
            </a:r>
            <a:r>
              <a:rPr lang="en-US" sz="1600" dirty="0"/>
              <a:t>Overall revenue generated from food orders.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800" b="1" dirty="0"/>
              <a:t>Average Rating- </a:t>
            </a:r>
            <a:r>
              <a:rPr lang="en-US" sz="1600" dirty="0"/>
              <a:t>Customer satisfaction level across all restaurants.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800" b="1" dirty="0"/>
              <a:t>Average Order value (AOV)- </a:t>
            </a:r>
            <a:r>
              <a:rPr lang="en-US" sz="1600" dirty="0"/>
              <a:t>Revenue per order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800" b="1" dirty="0"/>
              <a:t>Rating Count-</a:t>
            </a:r>
            <a:r>
              <a:rPr lang="en-US" sz="1800" dirty="0"/>
              <a:t> </a:t>
            </a:r>
            <a:r>
              <a:rPr lang="en-US" sz="1600" dirty="0"/>
              <a:t>Total number of customer reviews.</a:t>
            </a:r>
            <a:endParaRPr lang="en-US" sz="1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800" b="1" dirty="0"/>
              <a:t>Total Orders-  </a:t>
            </a:r>
            <a:r>
              <a:rPr lang="en-US" sz="1800" dirty="0"/>
              <a:t>Number of food orders received.</a:t>
            </a:r>
          </a:p>
          <a:p>
            <a:pPr algn="l"/>
            <a:endParaRPr lang="en-US" sz="1800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endParaRPr lang="en-US" sz="1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3CE06-9DB1-E3D2-0E02-2463917BF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141" y="0"/>
            <a:ext cx="1901364" cy="161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2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F4E4-99A4-DD2A-7B3F-071366075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1436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5A17E-E92F-7B64-B873-22000005D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73201"/>
            <a:ext cx="9144000" cy="48259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dirty="0">
                <a:highlight>
                  <a:srgbClr val="FFFF00"/>
                </a:highlight>
              </a:rPr>
              <a:t>Problem Statement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008000"/>
                </a:highlight>
              </a:rPr>
              <a:t>BRD: Chart’s</a:t>
            </a:r>
          </a:p>
          <a:p>
            <a:pPr algn="l"/>
            <a:endParaRPr lang="en-US" b="1" dirty="0">
              <a:solidFill>
                <a:schemeClr val="bg1"/>
              </a:solidFill>
              <a:highlight>
                <a:srgbClr val="008000"/>
              </a:highlight>
            </a:endParaRP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Monthly Sales Trend</a:t>
            </a:r>
            <a:r>
              <a:rPr lang="en-US" sz="1900" dirty="0"/>
              <a:t> </a:t>
            </a:r>
            <a:r>
              <a:rPr lang="en-US" dirty="0"/>
              <a:t>– </a:t>
            </a:r>
            <a:r>
              <a:rPr lang="en-US" sz="1700" dirty="0"/>
              <a:t>Shows how total sales fluctuate month by month</a:t>
            </a:r>
            <a:r>
              <a:rPr lang="en-US" dirty="0"/>
              <a:t>.</a:t>
            </a:r>
            <a:endParaRPr lang="en-US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Daily Sales Trend</a:t>
            </a:r>
            <a:r>
              <a:rPr lang="en-US" sz="1900" dirty="0"/>
              <a:t> </a:t>
            </a:r>
            <a:r>
              <a:rPr lang="en-US" sz="2100" dirty="0"/>
              <a:t>– </a:t>
            </a:r>
            <a:r>
              <a:rPr lang="en-US" sz="1700" dirty="0"/>
              <a:t>Highlights order and revenue variations across days of the week.</a:t>
            </a:r>
            <a:endParaRPr lang="en-US" sz="17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Total Sales by Food Type (Veg vs Non-Veg)</a:t>
            </a:r>
            <a:r>
              <a:rPr lang="en-US" sz="1900" dirty="0"/>
              <a:t> </a:t>
            </a:r>
            <a:r>
              <a:rPr lang="en-US" sz="2100" dirty="0"/>
              <a:t>– </a:t>
            </a:r>
            <a:r>
              <a:rPr lang="en-US" sz="1700" dirty="0"/>
              <a:t>Compares revenue contribution by cuisine type.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Total Sales by State (Map Visualization)</a:t>
            </a:r>
            <a:r>
              <a:rPr lang="en-US" sz="1900" dirty="0"/>
              <a:t> </a:t>
            </a:r>
            <a:r>
              <a:rPr lang="en-US" sz="2100" dirty="0"/>
              <a:t>– </a:t>
            </a:r>
            <a:r>
              <a:rPr lang="en-US" sz="1700" dirty="0"/>
              <a:t>Displays state-wise revenue distribution.</a:t>
            </a:r>
            <a:endParaRPr lang="en-US" sz="17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Quarterly Performance Summary</a:t>
            </a:r>
            <a:r>
              <a:rPr lang="en-US" sz="1900" dirty="0"/>
              <a:t> </a:t>
            </a:r>
            <a:r>
              <a:rPr lang="en-US" sz="2100" dirty="0"/>
              <a:t>– </a:t>
            </a:r>
            <a:r>
              <a:rPr lang="en-US" sz="1700" dirty="0"/>
              <a:t>Combines Sales, Ratings, and Orders by Quarter.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Top 5 Cities by Sales</a:t>
            </a:r>
            <a:r>
              <a:rPr lang="en-US" sz="1900" dirty="0"/>
              <a:t> </a:t>
            </a:r>
            <a:r>
              <a:rPr lang="en-US" sz="2100" dirty="0"/>
              <a:t>– </a:t>
            </a:r>
            <a:r>
              <a:rPr lang="en-US" sz="1600" dirty="0"/>
              <a:t>Identifies leading cities contributing the most revenue.</a:t>
            </a:r>
            <a:endParaRPr lang="en-US" sz="1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1900" b="1" dirty="0"/>
              <a:t>Weekly Trend Analysis</a:t>
            </a:r>
            <a:r>
              <a:rPr lang="en-US" sz="1900" dirty="0"/>
              <a:t> </a:t>
            </a:r>
            <a:r>
              <a:rPr lang="en-US" sz="1600" dirty="0"/>
              <a:t>– Monitors weekly fluctuations in sales to identify consistency or peak periods.</a:t>
            </a:r>
            <a:endParaRPr lang="en-US" sz="1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endParaRPr lang="en-US" sz="1600" dirty="0"/>
          </a:p>
          <a:p>
            <a:pPr algn="l"/>
            <a:endParaRPr lang="en-US" sz="1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F7CC5-79F3-AE45-12DA-5BAE9308D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141" y="0"/>
            <a:ext cx="1901364" cy="161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9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160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Athawale</dc:creator>
  <cp:lastModifiedBy>Pooja Athawale</cp:lastModifiedBy>
  <cp:revision>8</cp:revision>
  <dcterms:created xsi:type="dcterms:W3CDTF">2026-02-09T17:44:43Z</dcterms:created>
  <dcterms:modified xsi:type="dcterms:W3CDTF">2026-02-11T23:20:53Z</dcterms:modified>
</cp:coreProperties>
</file>